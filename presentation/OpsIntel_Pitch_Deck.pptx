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3F66"/>
                </a:solidFill>
                <a:latin typeface="Aptos"/>
              </a:rPr>
              <a:t>OpsIntel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E69"/>
                </a:solidFill>
                <a:latin typeface="Aptos"/>
              </a:rPr>
              <a:t>AI Infrastructure Incident Investigator powered by Exasol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2011680" cy="11430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2D6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700" b="1">
                <a:solidFill>
                  <a:srgbClr val="1C3F66"/>
                </a:solidFill>
                <a:latin typeface="Aptos"/>
              </a:rPr>
              <a:t>Telemetry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743200"/>
            <a:ext cx="2011680" cy="11430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2D6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700" b="1">
                <a:solidFill>
                  <a:srgbClr val="1C3F66"/>
                </a:solidFill>
                <a:latin typeface="Aptos"/>
              </a:rPr>
              <a:t>Exasol
Personal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2743200"/>
            <a:ext cx="2011680" cy="11430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2D6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700" b="1">
                <a:solidFill>
                  <a:srgbClr val="1C3F66"/>
                </a:solidFill>
                <a:latin typeface="Aptos"/>
              </a:rPr>
              <a:t>AI
Investigator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2743200"/>
            <a:ext cx="2011680" cy="11430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2D6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700" b="1">
                <a:solidFill>
                  <a:srgbClr val="1C3F66"/>
                </a:solidFill>
                <a:latin typeface="Aptos"/>
              </a:rPr>
              <a:t>OpsIntel
Dashboard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61488" y="3310128"/>
            <a:ext cx="438912" cy="0"/>
          </a:xfrm>
          <a:prstGeom prst="line">
            <a:avLst/>
          </a:prstGeom>
          <a:ln w="27940">
            <a:solidFill>
              <a:srgbClr val="555E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76088" y="3310128"/>
            <a:ext cx="438912" cy="0"/>
          </a:xfrm>
          <a:prstGeom prst="line">
            <a:avLst/>
          </a:prstGeom>
          <a:ln w="27940">
            <a:solidFill>
              <a:srgbClr val="555E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90688" y="3310128"/>
            <a:ext cx="438912" cy="0"/>
          </a:xfrm>
          <a:prstGeom prst="line">
            <a:avLst/>
          </a:prstGeom>
          <a:ln w="27940">
            <a:solidFill>
              <a:srgbClr val="555E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0" y="6419088"/>
            <a:ext cx="4343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55E69"/>
                </a:solidFill>
                <a:latin typeface="Aptos"/>
              </a:rPr>
              <a:t>OpsIntel  •  Exasol AI + Data Challenge 2026  •  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3F66"/>
                </a:solidFill>
                <a:latin typeface="Aptos"/>
              </a:rPr>
              <a:t>The Problem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636776"/>
            <a:ext cx="109728" cy="109728"/>
          </a:xfrm>
          <a:prstGeom prst="ellipse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554480"/>
            <a:ext cx="10469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E24"/>
                </a:solidFill>
                <a:latin typeface="Aptos"/>
              </a:rPr>
              <a:t>Infrastructure incidents produce scattered metrics, alerts, and timeline events.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331720"/>
            <a:ext cx="109728" cy="109728"/>
          </a:xfrm>
          <a:prstGeom prst="ellipse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249424"/>
            <a:ext cx="10469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E24"/>
                </a:solidFill>
                <a:latin typeface="Aptos"/>
              </a:rPr>
              <a:t>Operators must correlate CPU, memory, latency, errors, HTTP failures, and events under time pressure.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026663"/>
            <a:ext cx="109728" cy="109728"/>
          </a:xfrm>
          <a:prstGeom prst="ellipse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944368"/>
            <a:ext cx="10469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E24"/>
                </a:solidFill>
                <a:latin typeface="Aptos"/>
              </a:rPr>
              <a:t>AI answers can be fast but risky when they invent metrics or confuse correlation with causation.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721607"/>
            <a:ext cx="109728" cy="109728"/>
          </a:xfrm>
          <a:prstGeom prst="ellipse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639311"/>
            <a:ext cx="10469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E24"/>
                </a:solidFill>
                <a:latin typeface="Aptos"/>
              </a:rPr>
              <a:t>OpsIntel makes Exasol the evidence layer and constrains AI to the retrieved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6419088"/>
            <a:ext cx="4343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55E69"/>
                </a:solidFill>
                <a:latin typeface="Aptos"/>
              </a:rPr>
              <a:t>OpsIntel  •  Exasol AI + Data Challenge 2026  •  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3F66"/>
                </a:solidFill>
                <a:latin typeface="Aptos"/>
              </a:rPr>
              <a:t>How OpsIntel Works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636776"/>
            <a:ext cx="109728" cy="109728"/>
          </a:xfrm>
          <a:prstGeom prst="ellipse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554480"/>
            <a:ext cx="10469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E24"/>
                </a:solidFill>
                <a:latin typeface="Aptos"/>
              </a:rPr>
              <a:t>1. Synthetic infrastructure telemetry and incident events are stored in Exasol Personal.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331720"/>
            <a:ext cx="109728" cy="109728"/>
          </a:xfrm>
          <a:prstGeom prst="ellipse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249424"/>
            <a:ext cx="10469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E24"/>
                </a:solidFill>
                <a:latin typeface="Aptos"/>
              </a:rPr>
              <a:t>2. Exasol SQL calculates baselines, incident values, anomaly flags, and severity.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026663"/>
            <a:ext cx="109728" cy="109728"/>
          </a:xfrm>
          <a:prstGeom prst="ellipse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944368"/>
            <a:ext cx="10469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E24"/>
                </a:solidFill>
                <a:latin typeface="Aptos"/>
              </a:rPr>
              <a:t>3. A read-only SQL safety gate validates queries before execution.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721607"/>
            <a:ext cx="109728" cy="109728"/>
          </a:xfrm>
          <a:prstGeom prst="ellipse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639311"/>
            <a:ext cx="10469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E24"/>
                </a:solidFill>
                <a:latin typeface="Aptos"/>
              </a:rPr>
              <a:t>4. The AI investigator receives structured evidence plus correlated timeline events.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416551"/>
            <a:ext cx="109728" cy="109728"/>
          </a:xfrm>
          <a:prstGeom prst="ellipse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4334255"/>
            <a:ext cx="10469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E24"/>
                </a:solidFill>
                <a:latin typeface="Aptos"/>
              </a:rPr>
              <a:t>5. Streamlit presents the investigation, evidence, timings, and incident timeline.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6419088"/>
            <a:ext cx="4343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55E69"/>
                </a:solidFill>
                <a:latin typeface="Aptos"/>
              </a:rPr>
              <a:t>OpsIntel  •  Exasol AI + Data Challenge 2026  •  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3F66"/>
                </a:solidFill>
                <a:latin typeface="Aptos"/>
              </a:rPr>
              <a:t>Exasol Is the Evidence Engine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636776"/>
            <a:ext cx="109728" cy="109728"/>
          </a:xfrm>
          <a:prstGeom prst="ellipse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554480"/>
            <a:ext cx="10469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E24"/>
                </a:solidFill>
                <a:latin typeface="Aptos"/>
              </a:rPr>
              <a:t>OPSINTEL.SERVICES — service inventory and ownership context.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331720"/>
            <a:ext cx="109728" cy="109728"/>
          </a:xfrm>
          <a:prstGeom prst="ellipse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249424"/>
            <a:ext cx="10469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E24"/>
                </a:solidFill>
                <a:latin typeface="Aptos"/>
              </a:rPr>
              <a:t>OPSINTEL.SERVICE_METRICS — 50,000 synthetic telemetry rows.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026663"/>
            <a:ext cx="109728" cy="109728"/>
          </a:xfrm>
          <a:prstGeom prst="ellipse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944368"/>
            <a:ext cx="10469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E24"/>
                </a:solidFill>
                <a:latin typeface="Aptos"/>
              </a:rPr>
              <a:t>OPSINTEL.INCIDENT_EVENTS — 5 correlated incident/recovery events.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721607"/>
            <a:ext cx="109728" cy="109728"/>
          </a:xfrm>
          <a:prstGeom prst="ellipse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639311"/>
            <a:ext cx="10469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E24"/>
                </a:solidFill>
                <a:latin typeface="Aptos"/>
              </a:rPr>
              <a:t>Measured investigation output: anomaly score 5, severity CRITICAL, confidence HIGH.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416551"/>
            <a:ext cx="109728" cy="109728"/>
          </a:xfrm>
          <a:prstGeom prst="ellipse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4334255"/>
            <a:ext cx="10469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E24"/>
                </a:solidFill>
                <a:latin typeface="Aptos"/>
              </a:rPr>
              <a:t>Exasol is not just storage: SQL performs the analytical correlation that drives the investigation.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6419088"/>
            <a:ext cx="4343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55E69"/>
                </a:solidFill>
                <a:latin typeface="Aptos"/>
              </a:rPr>
              <a:t>OpsIntel  •  Exasol AI + Data Challenge 2026  •  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3F66"/>
                </a:solidFill>
                <a:latin typeface="Aptos"/>
              </a:rPr>
              <a:t>Example: web-03 Incident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636776"/>
            <a:ext cx="109728" cy="109728"/>
          </a:xfrm>
          <a:prstGeom prst="ellipse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554480"/>
            <a:ext cx="10469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E24"/>
                </a:solidFill>
                <a:latin typeface="Aptos"/>
              </a:rPr>
              <a:t>CPU: 41.96% baseline → 93.86% incident.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331720"/>
            <a:ext cx="109728" cy="109728"/>
          </a:xfrm>
          <a:prstGeom prst="ellipse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249424"/>
            <a:ext cx="10469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E24"/>
                </a:solidFill>
                <a:latin typeface="Aptos"/>
              </a:rPr>
              <a:t>Memory: 57.91% → 81.75%.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026663"/>
            <a:ext cx="109728" cy="109728"/>
          </a:xfrm>
          <a:prstGeom prst="ellipse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944368"/>
            <a:ext cx="10469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E24"/>
                </a:solidFill>
                <a:latin typeface="Aptos"/>
              </a:rPr>
              <a:t>Response time: 180.02 ms → 1,252.12 ms (6.96×).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721607"/>
            <a:ext cx="109728" cy="109728"/>
          </a:xfrm>
          <a:prstGeom prst="ellipse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639311"/>
            <a:ext cx="10469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E24"/>
                </a:solidFill>
                <a:latin typeface="Aptos"/>
              </a:rPr>
              <a:t>Error rate: 0.41% → 17.42% (42.47×).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416551"/>
            <a:ext cx="109728" cy="109728"/>
          </a:xfrm>
          <a:prstGeom prst="ellipse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4334255"/>
            <a:ext cx="10469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E24"/>
                </a:solidFill>
                <a:latin typeface="Aptos"/>
              </a:rPr>
              <a:t>HTTP 5xx: 2.62 → 184.44 (70.32×).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111495"/>
            <a:ext cx="109728" cy="109728"/>
          </a:xfrm>
          <a:prstGeom prst="ellipse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5029199"/>
            <a:ext cx="10469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E24"/>
                </a:solidFill>
                <a:latin typeface="Aptos"/>
              </a:rPr>
              <a:t>Timeline: warning → connection-pool saturation → 5xx spike → latency breach → recovery.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6419088"/>
            <a:ext cx="4343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55E69"/>
                </a:solidFill>
                <a:latin typeface="Aptos"/>
              </a:rPr>
              <a:t>OpsIntel  •  Exasol AI + Data Challenge 2026  •  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3F66"/>
                </a:solidFill>
                <a:latin typeface="Aptos"/>
              </a:rPr>
              <a:t>AI + Safety + Performance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636776"/>
            <a:ext cx="109728" cy="109728"/>
          </a:xfrm>
          <a:prstGeom prst="ellipse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554480"/>
            <a:ext cx="10469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E24"/>
                </a:solidFill>
                <a:latin typeface="Aptos"/>
              </a:rPr>
              <a:t>Evidence-first prompt rules prevent invented metrics and unsupported certainty.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331720"/>
            <a:ext cx="109728" cy="109728"/>
          </a:xfrm>
          <a:prstGeom prst="ellipse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249424"/>
            <a:ext cx="10469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E24"/>
                </a:solidFill>
                <a:latin typeface="Aptos"/>
              </a:rPr>
              <a:t>Observation and inference are explicitly separated; connection-pool exhaustion is presented as a hypothesis.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026663"/>
            <a:ext cx="109728" cy="109728"/>
          </a:xfrm>
          <a:prstGeom prst="ellipse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944368"/>
            <a:ext cx="10469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E24"/>
                </a:solidFill>
                <a:latin typeface="Aptos"/>
              </a:rPr>
              <a:t>SQL safety blocks destructive operations such as DROP, DELETE, UPDATE, INSERT, ALTER, and TRUNCATE.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721607"/>
            <a:ext cx="109728" cy="109728"/>
          </a:xfrm>
          <a:prstGeom prst="ellipse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639311"/>
            <a:ext cx="10469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E24"/>
                </a:solidFill>
                <a:latin typeface="Aptos"/>
              </a:rPr>
              <a:t>The dashboard measures Exasol time, AI time, and total investigation time.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416551"/>
            <a:ext cx="109728" cy="109728"/>
          </a:xfrm>
          <a:prstGeom prst="ellipse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4334255"/>
            <a:ext cx="10469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E24"/>
                </a:solidFill>
                <a:latin typeface="Aptos"/>
              </a:rPr>
              <a:t>Real dashboard run: Exasol 514.4 ms; total investigation time 25,066.9 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6419088"/>
            <a:ext cx="4343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55E69"/>
                </a:solidFill>
                <a:latin typeface="Aptos"/>
              </a:rPr>
              <a:t>OpsIntel  •  Exasol AI + Data Challenge 2026  •  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3F66"/>
                </a:solidFill>
                <a:latin typeface="Aptos"/>
              </a:rPr>
              <a:t>Impact &amp; Next Steps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636776"/>
            <a:ext cx="109728" cy="109728"/>
          </a:xfrm>
          <a:prstGeom prst="ellipse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554480"/>
            <a:ext cx="10469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E24"/>
                </a:solidFill>
                <a:latin typeface="Aptos"/>
              </a:rPr>
              <a:t>Reduce manual incident correlation to one evidence-backed workflow.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331720"/>
            <a:ext cx="109728" cy="109728"/>
          </a:xfrm>
          <a:prstGeom prst="ellipse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249424"/>
            <a:ext cx="10469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E24"/>
                </a:solidFill>
                <a:latin typeface="Aptos"/>
              </a:rPr>
              <a:t>Give operators a reproducible timeline, quantified anomalies, and a cautious AI explanation.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026663"/>
            <a:ext cx="109728" cy="109728"/>
          </a:xfrm>
          <a:prstGeom prst="ellipse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944368"/>
            <a:ext cx="10469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E24"/>
                </a:solidFill>
                <a:latin typeface="Aptos"/>
              </a:rPr>
              <a:t>Current MVP: Exasol analytics + anomaly detection + AI investigation + safety gate + Streamlit dashboard.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721607"/>
            <a:ext cx="109728" cy="109728"/>
          </a:xfrm>
          <a:prstGeom prst="ellipse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639311"/>
            <a:ext cx="10469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0">
                <a:solidFill>
                  <a:srgbClr val="191E24"/>
                </a:solidFill>
                <a:latin typeface="Aptos"/>
              </a:rPr>
              <a:t>Next: live telemetry ingestion, broader service coverage, alert integration, approval-based remediation, and forecasting.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526279"/>
            <a:ext cx="109728" cy="109728"/>
          </a:xfrm>
          <a:prstGeom prst="ellipse">
            <a:avLst/>
          </a:prstGeom>
          <a:solidFill>
            <a:srgbClr val="2D68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4443983"/>
            <a:ext cx="10469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91E24"/>
                </a:solidFill>
                <a:latin typeface="Aptos"/>
              </a:rPr>
              <a:t>Repository: github.com/rahulkhairnar/opsintel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6419088"/>
            <a:ext cx="4343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55E69"/>
                </a:solidFill>
                <a:latin typeface="Aptos"/>
              </a:rPr>
              <a:t>OpsIntel  •  Exasol AI + Data Challenge 2026  •  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